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45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8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22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7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3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6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525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17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8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87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2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25BC23-E0DD-4037-B2B8-7B6FA6454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EE120-2D35-4A48-BAAE-238F986A1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5318C-5EE5-8CBC-719F-F5467520A0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90" r="-2" b="-2"/>
          <a:stretch>
            <a:fillRect/>
          </a:stretch>
        </p:blipFill>
        <p:spPr>
          <a:xfrm>
            <a:off x="20" y="1804072"/>
            <a:ext cx="4458058" cy="43498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52F9EAC-0C70-441C-AC78-65174C28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1740090"/>
            <a:ext cx="7765922" cy="44275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3702B-3891-4AB1-E103-91D2973EF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101" y="2146851"/>
            <a:ext cx="6666980" cy="2658269"/>
          </a:xfrm>
        </p:spPr>
        <p:txBody>
          <a:bodyPr anchor="b">
            <a:normAutofit/>
          </a:bodyPr>
          <a:lstStyle/>
          <a:p>
            <a:pPr>
              <a:lnSpc>
                <a:spcPct val="115000"/>
              </a:lnSpc>
            </a:pPr>
            <a:r>
              <a:rPr lang="en-PK" sz="3300" b="1" dirty="0"/>
              <a:t>📊 </a:t>
            </a:r>
            <a:r>
              <a:rPr lang="en-US" sz="2400" b="1" dirty="0"/>
              <a:t>Breast Cancer Wisconsin </a:t>
            </a:r>
            <a:r>
              <a:rPr lang="en-US" sz="2000" b="1" dirty="0"/>
              <a:t>(Diagnostic) Dataset</a:t>
            </a:r>
            <a:br>
              <a:rPr lang="en-US" sz="2000" b="1" dirty="0"/>
            </a:br>
            <a:endParaRPr lang="en-PK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5B65E-C6B5-3C2B-424B-D133F4F14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2102" y="4810937"/>
            <a:ext cx="6666980" cy="1172200"/>
          </a:xfrm>
        </p:spPr>
        <p:txBody>
          <a:bodyPr anchor="t">
            <a:normAutofit/>
          </a:bodyPr>
          <a:lstStyle/>
          <a:p>
            <a:r>
              <a:rPr lang="en-US" sz="1800" i="1" dirty="0"/>
              <a:t>(Binary Classification: Benign vs Malignant)</a:t>
            </a:r>
          </a:p>
          <a:p>
            <a:r>
              <a:rPr lang="en-US" sz="1800" i="1" dirty="0"/>
              <a:t>By: Arslan Ahmed</a:t>
            </a:r>
            <a:endParaRPr lang="en-PK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8F6B8-EF56-4340-982E-F4D6F5DC2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75380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96C40-FEA6-4867-853D-CF37DE3B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7C5E2-274E-49A3-A8E0-46A5B8CAC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CF8D2C-9E01-48EC-8DDF-8A1FF60AE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8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FBF30-59EB-C9B4-2562-6E01ABD4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1️⃣ What is this dataset?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02F40-980C-3812-E6FF-C52E57B74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702257"/>
            <a:ext cx="9935571" cy="3426158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400" dirty="0"/>
              <a:t>This dataset is called the Breast Cancer Wisconsin (Diagnostic) Dataset.</a:t>
            </a:r>
            <a:br>
              <a:rPr lang="en-US" sz="1400" dirty="0"/>
            </a:br>
            <a:r>
              <a:rPr lang="en-US" sz="1400" dirty="0"/>
              <a:t>It is one of the most widely used datasets for teaching binary classification in Machine Learning.</a:t>
            </a:r>
          </a:p>
          <a:p>
            <a:pPr>
              <a:lnSpc>
                <a:spcPct val="130000"/>
              </a:lnSpc>
            </a:pPr>
            <a:r>
              <a:rPr lang="en-US" sz="1400" dirty="0"/>
              <a:t>🎯 Objective (Learning Goal)</a:t>
            </a:r>
          </a:p>
          <a:p>
            <a:pPr>
              <a:lnSpc>
                <a:spcPct val="130000"/>
              </a:lnSpc>
            </a:pPr>
            <a:r>
              <a:rPr lang="en-US" sz="1400" dirty="0"/>
              <a:t>Classify a tumor as</a:t>
            </a:r>
          </a:p>
          <a:p>
            <a:pPr>
              <a:lnSpc>
                <a:spcPct val="130000"/>
              </a:lnSpc>
            </a:pPr>
            <a:r>
              <a:rPr lang="en-US" sz="1400" dirty="0"/>
              <a:t>Benign (B) → non-cancerous</a:t>
            </a:r>
          </a:p>
          <a:p>
            <a:pPr>
              <a:lnSpc>
                <a:spcPct val="130000"/>
              </a:lnSpc>
            </a:pPr>
            <a:r>
              <a:rPr lang="en-US" sz="1400" dirty="0"/>
              <a:t>Malignant (M) → cancerous</a:t>
            </a:r>
          </a:p>
          <a:p>
            <a:pPr>
              <a:lnSpc>
                <a:spcPct val="130000"/>
              </a:lnSpc>
            </a:pPr>
            <a:r>
              <a:rPr lang="en-US" sz="1400" dirty="0"/>
              <a:t>based on cell characteristics extracted from medical images.</a:t>
            </a:r>
          </a:p>
          <a:p>
            <a:pPr>
              <a:lnSpc>
                <a:spcPct val="130000"/>
              </a:lnSpc>
            </a:pPr>
            <a:endParaRPr lang="en-PK" sz="1400" dirty="0"/>
          </a:p>
        </p:txBody>
      </p:sp>
    </p:spTree>
    <p:extLst>
      <p:ext uri="{BB962C8B-B14F-4D97-AF65-F5344CB8AC3E}">
        <p14:creationId xmlns:p14="http://schemas.microsoft.com/office/powerpoint/2010/main" val="314730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56234-83E2-F798-DB7B-393A196C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2️⃣ How was this dataset collected?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F0618-D6C1-2A33-B22C-6772C2F5F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477729"/>
            <a:ext cx="9935571" cy="3650686"/>
          </a:xfrm>
        </p:spPr>
        <p:txBody>
          <a:bodyPr anchor="t">
            <a:normAutofit/>
          </a:bodyPr>
          <a:lstStyle/>
          <a:p>
            <a:r>
              <a:rPr lang="en-US" dirty="0"/>
              <a:t>🧪 Data Collection Process (Important for students)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Fine Needle Aspiration (FNA) was performed on breast masses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samples were observed under a microscope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Digital images of cell nuclei were captured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 processing techniques extracted numerical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features describe: Shape, Size, Texture, Smoothness of cells</a:t>
            </a:r>
          </a:p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8AAAD-2E7F-D0C8-046D-D45E63E18D8C}"/>
              </a:ext>
            </a:extLst>
          </p:cNvPr>
          <p:cNvSpPr txBox="1"/>
          <p:nvPr/>
        </p:nvSpPr>
        <p:spPr>
          <a:xfrm>
            <a:off x="1535369" y="5814887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📌 </a:t>
            </a:r>
            <a:r>
              <a:rPr lang="en-US" sz="1400" b="1" dirty="0"/>
              <a:t>Important point for students:</a:t>
            </a:r>
            <a:br>
              <a:rPr lang="en-US" sz="1400" dirty="0"/>
            </a:br>
            <a:r>
              <a:rPr lang="en-US" sz="1400" dirty="0"/>
              <a:t>👉 </a:t>
            </a:r>
            <a:r>
              <a:rPr lang="en-US" sz="1400" i="1" dirty="0"/>
              <a:t>This is NOT raw image data</a:t>
            </a:r>
            <a:br>
              <a:rPr lang="en-US" sz="1400" dirty="0"/>
            </a:br>
            <a:r>
              <a:rPr lang="en-US" sz="1400" dirty="0"/>
              <a:t>👉 It is </a:t>
            </a:r>
            <a:r>
              <a:rPr lang="en-US" sz="1400" b="1" dirty="0"/>
              <a:t>pre-processed numeric data extracted from images</a:t>
            </a:r>
            <a:endParaRPr lang="en-PK" sz="1400" dirty="0"/>
          </a:p>
        </p:txBody>
      </p:sp>
    </p:spTree>
    <p:extLst>
      <p:ext uri="{BB962C8B-B14F-4D97-AF65-F5344CB8AC3E}">
        <p14:creationId xmlns:p14="http://schemas.microsoft.com/office/powerpoint/2010/main" val="125446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8CF9-43D2-B713-D4E0-21194C5E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3️⃣ Dataset Structure (Columns Overview)</a:t>
            </a:r>
            <a:endParaRPr lang="en-PK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D6C25-DA78-E7DE-F2BD-2413ECD0C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data.csv typically contains:</a:t>
            </a:r>
          </a:p>
          <a:p>
            <a:r>
              <a:rPr lang="en-PK" dirty="0"/>
              <a:t>🔹 </a:t>
            </a:r>
            <a:r>
              <a:rPr lang="en-US" dirty="0"/>
              <a:t>Identifier</a:t>
            </a:r>
          </a:p>
          <a:p>
            <a:r>
              <a:rPr lang="en-US" dirty="0"/>
              <a:t>id → unique patient/sample ID (NOT useful for ML)</a:t>
            </a:r>
          </a:p>
          <a:p>
            <a:r>
              <a:rPr lang="en-PK" dirty="0"/>
              <a:t>🔹 </a:t>
            </a:r>
            <a:r>
              <a:rPr lang="en-US" dirty="0"/>
              <a:t>Target Variable (Label)</a:t>
            </a:r>
          </a:p>
          <a:p>
            <a:r>
              <a:rPr lang="en-US" dirty="0"/>
              <a:t>diagnosis</a:t>
            </a:r>
          </a:p>
          <a:p>
            <a:pPr lvl="1"/>
            <a:r>
              <a:rPr lang="en-US" dirty="0"/>
              <a:t>M → Malignant</a:t>
            </a:r>
          </a:p>
          <a:p>
            <a:pPr lvl="1"/>
            <a:r>
              <a:rPr lang="en-US" dirty="0"/>
              <a:t>B → Benign</a:t>
            </a:r>
          </a:p>
          <a:p>
            <a:r>
              <a:rPr lang="en-PK" dirty="0"/>
              <a:t>👉 </a:t>
            </a:r>
            <a:r>
              <a:rPr lang="en-US" dirty="0"/>
              <a:t>This is the output (y)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0537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F6137-6680-C87C-B001-EB43E2111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4️⃣ Feature Groups (Most Important Part) (1/3)</a:t>
            </a:r>
            <a:endParaRPr lang="en-PK" sz="28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FEF2E-7FC1-B2F5-74C8-1A7564D12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507226"/>
            <a:ext cx="9935571" cy="3621189"/>
          </a:xfrm>
        </p:spPr>
        <p:txBody>
          <a:bodyPr anchor="t">
            <a:normAutofit fontScale="92500" lnSpcReduction="20000"/>
          </a:bodyPr>
          <a:lstStyle/>
          <a:p>
            <a:r>
              <a:rPr lang="en-US" dirty="0"/>
              <a:t>The dataset has 30 real-valued input features, computed from cell nucleus images.</a:t>
            </a:r>
          </a:p>
          <a:p>
            <a:r>
              <a:rPr lang="en-US" dirty="0"/>
              <a:t>These features come in three groups:</a:t>
            </a:r>
          </a:p>
          <a:p>
            <a:r>
              <a:rPr lang="en-US" dirty="0"/>
              <a:t>🟦 Group 1: Mean Features</a:t>
            </a:r>
          </a:p>
          <a:p>
            <a:r>
              <a:rPr lang="en-US" dirty="0"/>
              <a:t>Describe the average value of each cell property.</a:t>
            </a:r>
          </a:p>
          <a:p>
            <a:r>
              <a:rPr lang="en-US" dirty="0"/>
              <a:t>Examples: </a:t>
            </a:r>
            <a:r>
              <a:rPr lang="en-US" dirty="0" err="1"/>
              <a:t>radius_mean</a:t>
            </a:r>
            <a:r>
              <a:rPr lang="en-US" dirty="0"/>
              <a:t>, </a:t>
            </a:r>
            <a:r>
              <a:rPr lang="en-US" dirty="0" err="1"/>
              <a:t>texture_mean</a:t>
            </a:r>
            <a:r>
              <a:rPr lang="en-US" dirty="0"/>
              <a:t>, </a:t>
            </a:r>
            <a:r>
              <a:rPr lang="en-US" dirty="0" err="1"/>
              <a:t>perimeter_mean</a:t>
            </a:r>
            <a:r>
              <a:rPr lang="en-US" dirty="0"/>
              <a:t>, </a:t>
            </a:r>
            <a:r>
              <a:rPr lang="en-US" dirty="0" err="1"/>
              <a:t>area_mean</a:t>
            </a:r>
            <a:r>
              <a:rPr lang="en-US" dirty="0"/>
              <a:t>, </a:t>
            </a:r>
            <a:r>
              <a:rPr lang="en-US" dirty="0" err="1"/>
              <a:t>smoothness_mean</a:t>
            </a:r>
            <a:endParaRPr lang="en-US" dirty="0"/>
          </a:p>
          <a:p>
            <a:r>
              <a:rPr lang="en-US" dirty="0"/>
              <a:t>🧠 </a:t>
            </a:r>
            <a:r>
              <a:rPr lang="en-US" i="1" dirty="0"/>
              <a:t>What this means:</a:t>
            </a:r>
            <a:br>
              <a:rPr lang="en-US" dirty="0"/>
            </a:br>
            <a:r>
              <a:rPr lang="en-US" dirty="0"/>
              <a:t>Average size, shape, and texture of tumor cells.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21162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33B53-181C-5E87-8717-F16EE92AB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0D3071-A74D-577C-BF4D-2F8AC4B9A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A8B7CF-63FF-29CF-5A59-CCE4B8969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B805D-9C80-7D90-8E55-DB5E9269C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5031A-46F6-1A68-0323-F981F38AD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4️⃣ Feature Groups (Most Important Part) (2/3)</a:t>
            </a:r>
            <a:endParaRPr lang="en-PK" sz="28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26C029-AF1A-A562-CDED-3C9AE1760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A0347B-66BD-31E8-39DC-5204468B3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4EAA3-87B0-C42D-58FA-9C989818B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507226"/>
            <a:ext cx="9935571" cy="3621189"/>
          </a:xfrm>
        </p:spPr>
        <p:txBody>
          <a:bodyPr anchor="t">
            <a:normAutofit/>
          </a:bodyPr>
          <a:lstStyle/>
          <a:p>
            <a:r>
              <a:rPr lang="en-PK" dirty="0"/>
              <a:t>🟩 </a:t>
            </a:r>
            <a:r>
              <a:rPr lang="en-US" dirty="0"/>
              <a:t>Group 2: Standard Error Features</a:t>
            </a:r>
          </a:p>
          <a:p>
            <a:r>
              <a:rPr lang="en-US" dirty="0"/>
              <a:t>Describe variation in cell properties.</a:t>
            </a:r>
          </a:p>
          <a:p>
            <a:r>
              <a:rPr lang="en-US" dirty="0"/>
              <a:t>Examples: </a:t>
            </a:r>
            <a:r>
              <a:rPr lang="en-US" dirty="0" err="1"/>
              <a:t>radius_se</a:t>
            </a:r>
            <a:r>
              <a:rPr lang="en-US" dirty="0"/>
              <a:t>, </a:t>
            </a:r>
            <a:r>
              <a:rPr lang="en-US" dirty="0" err="1"/>
              <a:t>texture_se</a:t>
            </a:r>
            <a:r>
              <a:rPr lang="en-US" dirty="0"/>
              <a:t>, </a:t>
            </a:r>
            <a:r>
              <a:rPr lang="en-US" dirty="0" err="1"/>
              <a:t>area_se</a:t>
            </a:r>
            <a:r>
              <a:rPr lang="en-US" dirty="0"/>
              <a:t>, </a:t>
            </a:r>
            <a:r>
              <a:rPr lang="en-US" dirty="0" err="1"/>
              <a:t>perimeter_se</a:t>
            </a:r>
            <a:endParaRPr lang="en-US" dirty="0"/>
          </a:p>
          <a:p>
            <a:r>
              <a:rPr lang="en-PK" dirty="0"/>
              <a:t>🧠 </a:t>
            </a:r>
            <a:r>
              <a:rPr lang="en-US" i="1" dirty="0"/>
              <a:t>Interpretation:</a:t>
            </a:r>
            <a:br>
              <a:rPr lang="en-US" dirty="0"/>
            </a:br>
            <a:r>
              <a:rPr lang="en-US" dirty="0"/>
              <a:t>How much the cells vary → higher variation may signal malignancy.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5269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BCB2A-DA6B-9126-40E9-AF10C14D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D960485-4C27-517C-59DF-FD146BAF3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0CDCCC-1248-7A46-737C-4F285BD93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63625-6546-4CB0-DD23-FF4FE5E6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F3DF2-C7A9-D542-24D4-062B1189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4️⃣ Feature Groups (Most Important Part) (3/3)</a:t>
            </a:r>
            <a:endParaRPr lang="en-PK" sz="28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31DBF-A3EC-67D4-039A-19E0676A2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BE70C1-17EA-15A1-3062-3019769DA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D565-8655-D20A-87AD-BC052472D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371" y="2507226"/>
            <a:ext cx="9935571" cy="3621189"/>
          </a:xfrm>
        </p:spPr>
        <p:txBody>
          <a:bodyPr anchor="t">
            <a:normAutofit/>
          </a:bodyPr>
          <a:lstStyle/>
          <a:p>
            <a:r>
              <a:rPr lang="en-US" dirty="0"/>
              <a:t>🟨 Group 3: Worst (Extreme) Features</a:t>
            </a:r>
          </a:p>
          <a:p>
            <a:r>
              <a:rPr lang="en-US" dirty="0"/>
              <a:t>Describe the worst (largest/most irregular) observed values.</a:t>
            </a:r>
          </a:p>
          <a:p>
            <a:r>
              <a:rPr lang="en-US" dirty="0"/>
              <a:t>Examples: </a:t>
            </a:r>
            <a:r>
              <a:rPr lang="en-US" dirty="0" err="1"/>
              <a:t>radius_worst</a:t>
            </a:r>
            <a:r>
              <a:rPr lang="en-US" dirty="0"/>
              <a:t>, </a:t>
            </a:r>
            <a:r>
              <a:rPr lang="en-US" dirty="0" err="1"/>
              <a:t>texture_worst</a:t>
            </a:r>
            <a:r>
              <a:rPr lang="en-US" dirty="0"/>
              <a:t>, </a:t>
            </a:r>
            <a:r>
              <a:rPr lang="en-US" dirty="0" err="1"/>
              <a:t>area_worst</a:t>
            </a:r>
            <a:r>
              <a:rPr lang="en-US" dirty="0"/>
              <a:t>, </a:t>
            </a:r>
            <a:r>
              <a:rPr lang="en-US" dirty="0" err="1"/>
              <a:t>perimeter_worst</a:t>
            </a:r>
            <a:endParaRPr lang="en-US" dirty="0"/>
          </a:p>
          <a:p>
            <a:r>
              <a:rPr lang="en-US" dirty="0"/>
              <a:t>🧠 </a:t>
            </a:r>
            <a:r>
              <a:rPr lang="en-US" i="1" dirty="0"/>
              <a:t>Medical intuition:</a:t>
            </a:r>
            <a:br>
              <a:rPr lang="en-US" dirty="0"/>
            </a:br>
            <a:r>
              <a:rPr lang="en-US" dirty="0"/>
              <a:t>Malignant tumors often contain extreme, irregular cells, so worst values are very informative.</a:t>
            </a:r>
          </a:p>
        </p:txBody>
      </p:sp>
    </p:spTree>
    <p:extLst>
      <p:ext uri="{BB962C8B-B14F-4D97-AF65-F5344CB8AC3E}">
        <p14:creationId xmlns:p14="http://schemas.microsoft.com/office/powerpoint/2010/main" val="1361157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649B-4B56-A666-E525-21F5BD17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5️⃣ Meaning of Key Parameters</a:t>
            </a:r>
            <a:endParaRPr lang="en-P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8C755F-4645-B1C7-84F6-084CD9F3D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474108"/>
              </p:ext>
            </p:extLst>
          </p:nvPr>
        </p:nvGraphicFramePr>
        <p:xfrm>
          <a:off x="5284533" y="336047"/>
          <a:ext cx="6172200" cy="484632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367253508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270162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6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radius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Distance from center to boundary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748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texture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Smoothness/roughness of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54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perimeter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Outer boundary length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774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area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Size of nucleus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706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smoothness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variation in shape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10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compactness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tightly packed cells 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679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concavity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Depth of inward curves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342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concave points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 of concave parts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013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symmetry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Shape regularity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825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fractal dimension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Complexity of shape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9334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9E15E86-2BD1-1268-A5BF-B6448F4D12CF}"/>
              </a:ext>
            </a:extLst>
          </p:cNvPr>
          <p:cNvSpPr txBox="1"/>
          <p:nvPr/>
        </p:nvSpPr>
        <p:spPr>
          <a:xfrm>
            <a:off x="5360733" y="55794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Note:</a:t>
            </a:r>
            <a:r>
              <a:rPr lang="en-US" dirty="0"/>
              <a:t> Cancer cells are usually larger, irregular, rough, and asymmetric.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734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6B85-9502-7D85-A4DD-38457A1B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6️⃣ Target Variable Encoding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4172-3D2C-1316-0683-00AEC5DE2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 → 0 (Benign)</a:t>
            </a:r>
          </a:p>
          <a:p>
            <a:r>
              <a:rPr lang="en-US" dirty="0"/>
              <a:t>M → 1 (Malignant)</a:t>
            </a:r>
          </a:p>
          <a:p>
            <a:endParaRPr lang="en-US" dirty="0"/>
          </a:p>
          <a:p>
            <a:r>
              <a:rPr lang="en-US" dirty="0"/>
              <a:t>This makes it suitable for: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KNN</a:t>
            </a:r>
          </a:p>
          <a:p>
            <a:r>
              <a:rPr lang="en-US" dirty="0"/>
              <a:t>SVM</a:t>
            </a:r>
          </a:p>
          <a:p>
            <a:r>
              <a:rPr lang="en-US" dirty="0"/>
              <a:t>Decision Trees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7919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A162D-D39D-8B4F-103B-B866032A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7️⃣ Which Parameters are IMPORTANT for Classification?</a:t>
            </a:r>
            <a:endParaRPr lang="en-PK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74BE5-A024-DB9D-061F-4182796D5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1" y="705113"/>
            <a:ext cx="6172412" cy="561702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⭐ Highly Predictive Features (Conceptually)</a:t>
            </a:r>
          </a:p>
          <a:p>
            <a:r>
              <a:rPr lang="en-US" dirty="0"/>
              <a:t>These features are strong indicators of malignancy:</a:t>
            </a:r>
          </a:p>
          <a:p>
            <a:r>
              <a:rPr lang="en-US" dirty="0"/>
              <a:t>🔥 Size &amp;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radius_mean</a:t>
            </a:r>
            <a:r>
              <a:rPr lang="en-US" b="0" dirty="0"/>
              <a:t>, </a:t>
            </a:r>
            <a:r>
              <a:rPr lang="en-US" b="0" dirty="0" err="1"/>
              <a:t>radius_worst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area_mean</a:t>
            </a:r>
            <a:r>
              <a:rPr lang="en-US" b="0" dirty="0"/>
              <a:t>, </a:t>
            </a:r>
            <a:r>
              <a:rPr lang="en-US" b="0" dirty="0" err="1"/>
              <a:t>area_worst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perimeter_mean</a:t>
            </a:r>
            <a:r>
              <a:rPr lang="en-US" b="0" dirty="0"/>
              <a:t>, </a:t>
            </a:r>
            <a:r>
              <a:rPr lang="en-US" b="0" dirty="0" err="1"/>
              <a:t>perimeter_worst</a:t>
            </a:r>
            <a:endParaRPr lang="en-US" b="0" dirty="0"/>
          </a:p>
          <a:p>
            <a:r>
              <a:rPr lang="en-US" dirty="0"/>
              <a:t>🔥 Irregularity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concavity_mean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concave </a:t>
            </a:r>
            <a:r>
              <a:rPr lang="en-US" b="0" dirty="0" err="1"/>
              <a:t>points_mean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symmetry_mean</a:t>
            </a:r>
            <a:endParaRPr lang="en-US" b="0" dirty="0"/>
          </a:p>
          <a:p>
            <a:r>
              <a:rPr lang="en-US" dirty="0"/>
              <a:t>🔥 Extremes (Very Important)</a:t>
            </a:r>
          </a:p>
          <a:p>
            <a:r>
              <a:rPr lang="en-US" b="0" dirty="0"/>
              <a:t>All *_worst features</a:t>
            </a:r>
            <a:br>
              <a:rPr lang="en-US" b="0" dirty="0"/>
            </a:br>
            <a:r>
              <a:rPr lang="en-US" b="0" dirty="0"/>
              <a:t>(Malignant cells show extreme behavior)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6085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4FD7-D9B9-308E-5F21-89D95326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8️⃣ Feature Engineering — What Can Students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268C-3D56-3646-8F26-E0F4769AC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K" dirty="0"/>
              <a:t>✅ </a:t>
            </a:r>
            <a:r>
              <a:rPr lang="en-US" dirty="0"/>
              <a:t>Eligible for Feature Engineering</a:t>
            </a:r>
          </a:p>
          <a:p>
            <a:r>
              <a:rPr lang="en-US" dirty="0"/>
              <a:t>1️⃣ Drop useless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b="0" dirty="0"/>
              <a:t>❌ </a:t>
            </a:r>
            <a:r>
              <a:rPr lang="en-US" b="0" dirty="0"/>
              <a:t>id</a:t>
            </a:r>
          </a:p>
          <a:p>
            <a:r>
              <a:rPr lang="en-US" dirty="0"/>
              <a:t>2️⃣ Encode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diagnosis → 0 / 1</a:t>
            </a:r>
          </a:p>
          <a:p>
            <a:r>
              <a:rPr lang="en-US" dirty="0"/>
              <a:t>3️⃣ Feature scaling (VERY IMPORTANT)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StandardScaler</a:t>
            </a:r>
            <a:endParaRPr lang="en-US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MinMaxScaler</a:t>
            </a:r>
            <a:endParaRPr lang="en-US" b="0" dirty="0"/>
          </a:p>
          <a:p>
            <a:r>
              <a:rPr lang="en-PK" dirty="0"/>
              <a:t>👉 </a:t>
            </a:r>
            <a:r>
              <a:rPr lang="en-US" dirty="0"/>
              <a:t>Because: </a:t>
            </a:r>
            <a:r>
              <a:rPr lang="en-US" b="0" dirty="0"/>
              <a:t>Values range from small (smoothness) to large (area)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0734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443E-D3F8-9F8A-E12B-37B233BDE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9F6E-F48F-F1AE-9E09-E5A51D75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Does Feature scaling Do?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77D44-6EF9-02BF-B817-05D539C65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571" y="1330111"/>
            <a:ext cx="6119390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650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9FF2-0FEA-1AE3-C608-32FA1C75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9️⃣ Why This Dataset is PERFECT for Classification at beginner level </a:t>
            </a:r>
            <a:endParaRPr lang="en-PK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6F987-C0F3-1776-C04A-0F4EDB1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1" y="705114"/>
            <a:ext cx="6172412" cy="2981984"/>
          </a:xfrm>
        </p:spPr>
        <p:txBody>
          <a:bodyPr/>
          <a:lstStyle/>
          <a:p>
            <a:r>
              <a:rPr lang="en-US" dirty="0"/>
              <a:t>✔ Binary classification</a:t>
            </a:r>
            <a:br>
              <a:rPr lang="en-US" dirty="0"/>
            </a:br>
            <a:r>
              <a:rPr lang="en-US" dirty="0"/>
              <a:t>✔ Numeric data only</a:t>
            </a:r>
            <a:br>
              <a:rPr lang="en-US" dirty="0"/>
            </a:br>
            <a:r>
              <a:rPr lang="en-US" dirty="0"/>
              <a:t>✔ No missing values</a:t>
            </a:r>
            <a:br>
              <a:rPr lang="en-US" dirty="0"/>
            </a:br>
            <a:r>
              <a:rPr lang="en-US" dirty="0"/>
              <a:t>✔ No NLP / images complexity</a:t>
            </a:r>
            <a:br>
              <a:rPr lang="en-US" dirty="0"/>
            </a:br>
            <a:r>
              <a:rPr lang="en-US" dirty="0"/>
              <a:t>✔ Clear medical meaning</a:t>
            </a:r>
            <a:br>
              <a:rPr lang="en-US" dirty="0"/>
            </a:br>
            <a:r>
              <a:rPr lang="en-US" dirty="0"/>
              <a:t>✔ Works with simple ML models</a:t>
            </a:r>
          </a:p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7CB71-3CC8-1077-6305-8DF96410BA1B}"/>
              </a:ext>
            </a:extLst>
          </p:cNvPr>
          <p:cNvSpPr txBox="1"/>
          <p:nvPr/>
        </p:nvSpPr>
        <p:spPr>
          <a:xfrm>
            <a:off x="5453082" y="381536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“We use measurements of cell size, shape, and irregularity to predict whether a tumor is </a:t>
            </a:r>
            <a:r>
              <a:rPr lang="en-US" b="1" dirty="0"/>
              <a:t>benign</a:t>
            </a:r>
            <a:r>
              <a:rPr lang="en-US" dirty="0"/>
              <a:t> or </a:t>
            </a:r>
            <a:r>
              <a:rPr lang="en-US" b="1" dirty="0"/>
              <a:t>malignant</a:t>
            </a:r>
            <a:r>
              <a:rPr lang="en-US" dirty="0"/>
              <a:t>.”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6700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BFCB0-EC79-9DDE-E058-111EFBCD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2400" dirty="0"/>
              <a:t>1️⃣0️⃣</a:t>
            </a:r>
            <a:r>
              <a:rPr lang="en-US" sz="2400" dirty="0"/>
              <a:t> step-by-step Python code</a:t>
            </a:r>
            <a:endParaRPr lang="en-PK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8DD28-5E38-7678-AC3F-3550CEC8B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Implement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98157469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742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Meiryo</vt:lpstr>
      <vt:lpstr>Arial</vt:lpstr>
      <vt:lpstr>Corbel</vt:lpstr>
      <vt:lpstr>ShojiVTI</vt:lpstr>
      <vt:lpstr>📊 Breast Cancer Wisconsin (Diagnostic) Dataset </vt:lpstr>
      <vt:lpstr>1️⃣ What is this dataset?</vt:lpstr>
      <vt:lpstr>2️⃣ How was this dataset collected?</vt:lpstr>
      <vt:lpstr>3️⃣ Dataset Structure (Columns Overview)</vt:lpstr>
      <vt:lpstr>4️⃣ Feature Groups (Most Important Part) (1/3)</vt:lpstr>
      <vt:lpstr>4️⃣ Feature Groups (Most Important Part) (2/3)</vt:lpstr>
      <vt:lpstr>4️⃣ Feature Groups (Most Important Part) (3/3)</vt:lpstr>
      <vt:lpstr>5️⃣ Meaning of Key Parameters</vt:lpstr>
      <vt:lpstr>6️⃣ Target Variable Encoding</vt:lpstr>
      <vt:lpstr>7️⃣ Which Parameters are IMPORTANT for Classification?</vt:lpstr>
      <vt:lpstr>8️⃣ Feature Engineering — What Can Students Do?</vt:lpstr>
      <vt:lpstr>What Does Feature scaling Do?</vt:lpstr>
      <vt:lpstr>9️⃣ Why This Dataset is PERFECT for Classification at beginner level </vt:lpstr>
      <vt:lpstr>1️⃣0️⃣ step-by-step Python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Arslan Ahmed Bhutto</dc:creator>
  <cp:lastModifiedBy>Arslan Ahmed Bhutto</cp:lastModifiedBy>
  <cp:revision>1</cp:revision>
  <dcterms:created xsi:type="dcterms:W3CDTF">2026-01-20T11:03:28Z</dcterms:created>
  <dcterms:modified xsi:type="dcterms:W3CDTF">2026-01-20T11:24:33Z</dcterms:modified>
</cp:coreProperties>
</file>